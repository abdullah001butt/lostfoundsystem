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B8862E"/>
                </a:solidFill>
                <a:latin typeface="Consolas"/>
              </a:rPr>
              <a:t>DBMS COURSE PROJECT - SQL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91440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 i="0">
                <a:solidFill>
                  <a:srgbClr val="EEF1F4"/>
                </a:solidFill>
                <a:latin typeface="Georgia"/>
              </a:rPr>
              <a:t>Lost &amp; Found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 i="0">
                <a:solidFill>
                  <a:srgbClr val="EEF1F4"/>
                </a:solidFill>
                <a:latin typeface="Georgia"/>
              </a:rPr>
              <a:t>Campus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7498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9FB0BF"/>
                </a:solidFill>
                <a:latin typeface="Segoe UI"/>
              </a:rPr>
              <a:t>A relational database that lets students report lost or found items, automatically surfaces likely matches, and routes claims through admin approval.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2743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 i="0" spc="100">
                <a:solidFill>
                  <a:srgbClr val="6F8496"/>
                </a:solidFill>
                <a:latin typeface="Consolas"/>
              </a:rPr>
              <a:t>SUBMISSION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EEF1F4"/>
                </a:solidFill>
                <a:latin typeface="Consolas"/>
              </a:rPr>
              <a:t>25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4480560"/>
            <a:ext cx="2743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 i="0" spc="100">
                <a:solidFill>
                  <a:srgbClr val="6F8496"/>
                </a:solidFill>
                <a:latin typeface="Consolas"/>
              </a:rPr>
              <a:t>PRESENTATION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EEF1F4"/>
                </a:solidFill>
                <a:latin typeface="Consolas"/>
              </a:rPr>
              <a:t>26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4480560"/>
            <a:ext cx="2743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 i="0" spc="100">
                <a:solidFill>
                  <a:srgbClr val="6F8496"/>
                </a:solidFill>
                <a:latin typeface="Consolas"/>
              </a:rPr>
              <a:t>ENGINE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 i="0">
                <a:solidFill>
                  <a:srgbClr val="EEF1F4"/>
                </a:solidFill>
                <a:latin typeface="Consolas"/>
              </a:rPr>
              <a:t>Microsoft SQL 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349240"/>
            <a:ext cx="274320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B88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B8862E"/>
                </a:solidFill>
                <a:latin typeface="Consolas"/>
              </a:rPr>
              <a:t>Nabia Sajid - Group Leader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30752" y="5349240"/>
            <a:ext cx="214884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C3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CFD9E2"/>
                </a:solidFill>
                <a:latin typeface="Consolas"/>
              </a:rPr>
              <a:t>Muhammad Abdullah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44184" y="5349240"/>
            <a:ext cx="214884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C3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CFD9E2"/>
                </a:solidFill>
                <a:latin typeface="Consolas"/>
              </a:rPr>
              <a:t>Maryam Muazzam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57616" y="5349240"/>
            <a:ext cx="214884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C3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CFD9E2"/>
                </a:solidFill>
                <a:latin typeface="Consolas"/>
              </a:rPr>
              <a:t>Sathya Narayan</a:t>
            </a:r>
          </a:p>
        </p:txBody>
      </p:sp>
    </p:spTree>
  </p:cSld>
  <p:clrMapOvr>
    <a:masterClrMapping/>
  </p:clrMapOvr>
  <p:transition xmlns:p14="http://schemas.microsoft.com/office/powerpoint/2010/main" spd="med" p14:dur="8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45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110" presetID="10" presetClass="entr" presetSubtype="0" fill="hold" nodeType="afterEffect">
                      <p:stCondLst>
                        <p:cond delay="130"/>
                      </p:stCondLst>
                      <p:childTnLst>
                        <p:set>
                          <p:cBhvr>
                            <p:cTn id="1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" dur="45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20" presetID="10" presetClass="entr" presetSubtype="0" fill="hold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1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wipe(right)">
                          <p:cBhvr>
                            <p:cTn id="122" dur="45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30" presetID="10" presetClass="entr" presetSubtype="0" fill="hold" nodeType="afterEffect">
                      <p:stCondLst>
                        <p:cond delay="130"/>
                      </p:stCondLst>
                      <p:childTnLst>
                        <p:set>
                          <p:cBhvr>
                            <p:cTn id="13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wipe(right)">
                          <p:cBhvr>
                            <p:cTn id="132" dur="45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40" presetID="10" presetClass="entr" presetSubtype="0" fill="hold" nodeType="afterEffect">
                      <p:stCondLst>
                        <p:cond delay="130"/>
                      </p:stCondLst>
                      <p:childTnLst>
                        <p:set>
                          <p:cBhvr>
                            <p:cTn id="14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wipe(right)">
                          <p:cBhvr>
                            <p:cTn id="142" dur="45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50" presetID="10" presetClass="entr" presetSubtype="0" fill="hold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15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box(in)">
                          <p:cBhvr>
                            <p:cTn id="152" dur="45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60" presetID="10" presetClass="entr" presetSubtype="0" fill="hold" nodeType="afterEffect">
                      <p:stCondLst>
                        <p:cond delay="130"/>
                      </p:stCondLst>
                      <p:childTnLst>
                        <p:set>
                          <p:cBhvr>
                            <p:cTn id="1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box(in)">
                          <p:cBhvr>
                            <p:cTn id="162" dur="45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70" presetID="10" presetClass="entr" presetSubtype="0" fill="hold" nodeType="afterEffect">
                      <p:stCondLst>
                        <p:cond delay="130"/>
                      </p:stCondLst>
                      <p:childTnLst>
                        <p:set>
                          <p:cBhvr>
                            <p:cTn id="17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box(in)">
                          <p:cBhvr>
                            <p:cTn id="172" dur="45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80" presetID="10" presetClass="entr" presetSubtype="0" fill="hold" nodeType="afterEffect">
                      <p:stCondLst>
                        <p:cond delay="130"/>
                      </p:stCondLst>
                      <p:childTnLst>
                        <p:set>
                          <p:cBhvr>
                            <p:cTn id="18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box(in)">
                          <p:cBhvr>
                            <p:cTn id="182" dur="45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90" presetID="10" presetClass="entr" presetSubtype="0" fill="hold" nodeType="afterEffect">
                      <p:stCondLst>
                        <p:cond delay="130"/>
                      </p:stCondLst>
                      <p:childTnLst>
                        <p:set>
                          <p:cBhvr>
                            <p:cTn id="19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box(in)">
                          <p:cBhvr>
                            <p:cTn id="192" dur="45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B8862E"/>
                </a:solidFill>
                <a:latin typeface="Consola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9144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200" b="1" i="0">
                <a:solidFill>
                  <a:srgbClr val="10151C"/>
                </a:solidFill>
                <a:latin typeface="Georgia"/>
              </a:rPr>
              <a:t>Campus items go missing.
Recovery is left to chance.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4A5868"/>
                </a:solidFill>
                <a:latin typeface="Segoe UI"/>
              </a:rPr>
              <a:t>There is no shared system to report a lost item, register a found one, or verify who it actually belongs to - so most items never make it back.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1320" y="0"/>
            <a:ext cx="960120" cy="310896"/>
          </a:xfrm>
          <a:prstGeom prst="rect">
            <a:avLst/>
          </a:prstGeom>
          <a:solidFill>
            <a:srgbClr val="10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EEF1F4"/>
                </a:solidFill>
                <a:latin typeface="Consolas"/>
              </a:rPr>
              <a:t>01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34640"/>
            <a:ext cx="507492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834640"/>
            <a:ext cx="38100" cy="2651760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06324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0151C"/>
                </a:solidFill>
                <a:latin typeface="Georgia"/>
              </a:rPr>
              <a:t>Today, without a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520440"/>
            <a:ext cx="46177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4A5868"/>
                </a:solidFill>
                <a:latin typeface="Segoe UI"/>
              </a:rPr>
              <a:t>A found item sits at a front desk. A student who lost it has no way to know it was ever handed in - reports live in group chats, notice boards, or nowhere at 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834640"/>
            <a:ext cx="507492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2834640"/>
            <a:ext cx="38100" cy="265176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06324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0151C"/>
                </a:solidFill>
                <a:latin typeface="Georgia"/>
              </a:rPr>
              <a:t>What the database solves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20440"/>
            <a:ext cx="46177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4A5868"/>
                </a:solidFill>
                <a:latin typeface="Segoe UI"/>
              </a:rPr>
              <a:t>One shared source of truth: every lost and found report, every candidate match, every claim and its approval - all queryable, all auditable.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446520"/>
            <a:ext cx="11183112" cy="9525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497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 spc="20">
                <a:solidFill>
                  <a:srgbClr val="4A5868"/>
                </a:solidFill>
                <a:latin typeface="Consolas"/>
              </a:rPr>
              <a:t>Lost &amp; Found Campus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497320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 spc="20">
                <a:solidFill>
                  <a:srgbClr val="4A5868"/>
                </a:solidFill>
                <a:latin typeface="Consolas"/>
              </a:rPr>
              <a:t>SQL Server / T-SQL</a:t>
            </a:r>
          </a:p>
        </p:txBody>
      </p:sp>
    </p:spTree>
  </p:cSld>
  <p:clrMapOvr>
    <a:masterClrMapping/>
  </p:clrMapOvr>
  <p:transition xmlns:p14="http://schemas.microsoft.com/office/powerpoint/2010/main" spd="med" p14:dur="65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45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110" presetID="10" presetClass="entr" presetSubtype="0" fill="hold" nodeType="afterEffect">
                      <p:stCondLst>
                        <p:cond delay="160"/>
                      </p:stCondLst>
                      <p:childTnLst>
                        <p:set>
                          <p:cBhvr>
                            <p:cTn id="1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" dur="45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20" presetID="10" presetClass="entr" presetSubtype="0" fill="hold" nodeType="afterEffect">
                      <p:stCondLst>
                        <p:cond delay="160"/>
                      </p:stCondLst>
                      <p:childTnLst>
                        <p:set>
                          <p:cBhvr>
                            <p:cTn id="1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2" dur="45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30" presetID="10" presetClass="entr" presetSubtype="0" fill="hold" nodeType="afterEffect">
                      <p:stCondLst>
                        <p:cond delay="200"/>
                      </p:stCondLst>
                      <p:childTnLst>
                        <p:set>
                          <p:cBhvr>
                            <p:cTn id="13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wipe(right)">
                          <p:cBhvr>
                            <p:cTn id="132" dur="45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40" presetID="10" presetClass="entr" presetSubtype="0" fill="hold" nodeType="afterEffect">
                      <p:stCondLst>
                        <p:cond delay="160"/>
                      </p:stCondLst>
                      <p:childTnLst>
                        <p:set>
                          <p:cBhvr>
                            <p:cTn id="14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wipe(right)">
                          <p:cBhvr>
                            <p:cTn id="142" dur="45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B8862E"/>
                </a:solidFill>
                <a:latin typeface="Consolas"/>
              </a:rPr>
              <a:t>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9144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200" b="1" i="0">
                <a:solidFill>
                  <a:srgbClr val="10151C"/>
                </a:solidFill>
                <a:latin typeface="Georgia"/>
              </a:rPr>
              <a:t>Five features, one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4A5868"/>
                </a:solidFill>
                <a:latin typeface="Segoe UI"/>
              </a:rPr>
              <a:t>Every feature below maps directly onto a table, a join, a trigger, or a stored procedure - nothing here is UI-only.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1320" y="0"/>
            <a:ext cx="960120" cy="310896"/>
          </a:xfrm>
          <a:prstGeom prst="rect">
            <a:avLst/>
          </a:prstGeom>
          <a:solidFill>
            <a:srgbClr val="10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EEF1F4"/>
                </a:solidFill>
                <a:latin typeface="Consolas"/>
              </a:rPr>
              <a:t>02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31720"/>
            <a:ext cx="34290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31720"/>
            <a:ext cx="38100" cy="1737360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514600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0151C"/>
                </a:solidFill>
                <a:latin typeface="Georgia"/>
              </a:rPr>
              <a:t>Report Lost Item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953512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4A5868"/>
                </a:solidFill>
                <a:latin typeface="Segoe UI"/>
              </a:rPr>
              <a:t>Student logs title, category, location and date of a lost item.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7992" y="2331720"/>
            <a:ext cx="34290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07992" y="2331720"/>
            <a:ext cx="38100" cy="1737360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514600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0151C"/>
                </a:solidFill>
                <a:latin typeface="Georgia"/>
              </a:rPr>
              <a:t>Report Found Item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953512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4A5868"/>
                </a:solidFill>
                <a:latin typeface="Segoe UI"/>
              </a:rPr>
              <a:t>Same structure, filed by whoever found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3024" y="2331720"/>
            <a:ext cx="34290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93024" y="2331720"/>
            <a:ext cx="38100" cy="1737360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2514600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0151C"/>
                </a:solidFill>
                <a:latin typeface="Georgia"/>
              </a:rPr>
              <a:t>Match Similar Items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953512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4A5868"/>
                </a:solidFill>
                <a:latin typeface="Segoe UI"/>
              </a:rPr>
              <a:t>Engine auto-suggests Lost/Found pairs by category, location, date window.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325112"/>
            <a:ext cx="34290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325112"/>
            <a:ext cx="38100" cy="1737360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507992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0151C"/>
                </a:solidFill>
                <a:latin typeface="Georgia"/>
              </a:rPr>
              <a:t>Claim Requests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4946904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4A5868"/>
                </a:solidFill>
                <a:latin typeface="Segoe UI"/>
              </a:rPr>
              <a:t>Student requests ownership of a found item with proof details.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07992" y="4325112"/>
            <a:ext cx="34290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07992" y="4325112"/>
            <a:ext cx="38100" cy="1737360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4507992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0151C"/>
                </a:solidFill>
                <a:latin typeface="Georgia"/>
              </a:rPr>
              <a:t>Admin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946904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4A5868"/>
                </a:solidFill>
                <a:latin typeface="Segoe UI"/>
              </a:rPr>
              <a:t>Admin approves or rejects; approval finalizes the hand-over.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446520"/>
            <a:ext cx="11183112" cy="9525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497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 spc="20">
                <a:solidFill>
                  <a:srgbClr val="4A5868"/>
                </a:solidFill>
                <a:latin typeface="Consolas"/>
              </a:rPr>
              <a:t>Lost &amp; Found Campus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6497320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 spc="20">
                <a:solidFill>
                  <a:srgbClr val="4A5868"/>
                </a:solidFill>
                <a:latin typeface="Consolas"/>
              </a:rPr>
              <a:t>Core Features</a:t>
            </a:r>
          </a:p>
        </p:txBody>
      </p:sp>
    </p:spTree>
  </p:cSld>
  <p:clrMapOvr>
    <a:masterClrMapping/>
  </p:clrMapOvr>
  <p:transition xmlns:p14="http://schemas.microsoft.com/office/powerpoint/2010/main" spd="med" p14:dur="65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45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110" presetID="10" presetClass="entr" presetSubtype="0" fill="hold" nodeType="afterEffect">
                      <p:stCondLst>
                        <p:cond delay="110"/>
                      </p:stCondLst>
                      <p:childTnLst>
                        <p:set>
                          <p:cBhvr>
                            <p:cTn id="1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" dur="45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20" presetID="10" presetClass="entr" presetSubtype="0" fill="hold" nodeType="afterEffect">
                      <p:stCondLst>
                        <p:cond delay="110"/>
                      </p:stCondLst>
                      <p:childTnLst>
                        <p:set>
                          <p:cBhvr>
                            <p:cTn id="1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2" dur="45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30" presetID="10" presetClass="entr" presetSubtype="0" fill="hold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13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box(in)">
                          <p:cBhvr>
                            <p:cTn id="132" dur="45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40" presetID="10" presetClass="entr" presetSubtype="0" fill="hold" nodeType="afterEffect">
                      <p:stCondLst>
                        <p:cond delay="110"/>
                      </p:stCondLst>
                      <p:childTnLst>
                        <p:set>
                          <p:cBhvr>
                            <p:cTn id="14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box(in)">
                          <p:cBhvr>
                            <p:cTn id="142" dur="45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50" presetID="10" presetClass="entr" presetSubtype="0" fill="hold" nodeType="afterEffect">
                      <p:stCondLst>
                        <p:cond delay="110"/>
                      </p:stCondLst>
                      <p:childTnLst>
                        <p:set>
                          <p:cBhvr>
                            <p:cTn id="15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box(in)">
                          <p:cBhvr>
                            <p:cTn id="152" dur="45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60" presetID="10" presetClass="entr" presetSubtype="0" fill="hold" nodeType="afterEffect">
                      <p:stCondLst>
                        <p:cond delay="110"/>
                      </p:stCondLst>
                      <p:childTnLst>
                        <p:set>
                          <p:cBhvr>
                            <p:cTn id="1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box(in)">
                          <p:cBhvr>
                            <p:cTn id="162" dur="45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170" presetID="10" presetClass="entr" presetSubtype="0" fill="hold" nodeType="afterEffect">
                      <p:stCondLst>
                        <p:cond delay="110"/>
                      </p:stCondLst>
                      <p:childTnLst>
                        <p:set>
                          <p:cBhvr>
                            <p:cTn id="17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box(in)">
                          <p:cBhvr>
                            <p:cTn id="172" dur="45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B8862E"/>
                </a:solidFill>
                <a:latin typeface="Consolas"/>
              </a:rPr>
              <a:t>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9144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200" b="1" i="0">
                <a:solidFill>
                  <a:srgbClr val="10151C"/>
                </a:solidFill>
                <a:latin typeface="Georgia"/>
              </a:rPr>
              <a:t>Entity-Relationship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4A5868"/>
                </a:solidFill>
                <a:latin typeface="Segoe UI"/>
              </a:rPr>
              <a:t>Five tables. One unified Items table for both Lost and Found rows, distinguished by an ItemType column.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1320" y="0"/>
            <a:ext cx="960120" cy="310896"/>
          </a:xfrm>
          <a:prstGeom prst="rect">
            <a:avLst/>
          </a:prstGeom>
          <a:solidFill>
            <a:srgbClr val="10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EEF1F4"/>
                </a:solidFill>
                <a:latin typeface="Consolas"/>
              </a:rPr>
              <a:t>03 / 10</a:t>
            </a:r>
          </a:p>
        </p:txBody>
      </p:sp>
      <p:pic>
        <p:nvPicPr>
          <p:cNvPr id="6" name="Picture 5" descr="ER_Diagram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7676" y="1874519"/>
            <a:ext cx="5916342" cy="4343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6446520"/>
            <a:ext cx="11183112" cy="9525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7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 spc="20">
                <a:solidFill>
                  <a:srgbClr val="4A5868"/>
                </a:solidFill>
                <a:latin typeface="Consolas"/>
              </a:rPr>
              <a:t>Lost &amp; Found Campus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97320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 spc="20">
                <a:solidFill>
                  <a:srgbClr val="4A5868"/>
                </a:solidFill>
                <a:latin typeface="Consolas"/>
              </a:rPr>
              <a:t>ER Diagram</a:t>
            </a:r>
          </a:p>
        </p:txBody>
      </p:sp>
    </p:spTree>
  </p:cSld>
  <p:clrMapOvr>
    <a:masterClrMapping/>
  </p:clrMapOvr>
  <p:transition xmlns:p14="http://schemas.microsoft.com/office/powerpoint/2010/main" spd="med" p14:dur="650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45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110" presetID="10" presetClass="entr" presetSubtype="0" fill="hold" nodeType="afterEffect">
                      <p:stCondLst>
                        <p:cond delay="150"/>
                      </p:stCondLst>
                      <p:childTnLst>
                        <p:set>
                          <p:cBhvr>
                            <p:cTn id="1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" dur="45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20" presetID="10" presetClass="entr" presetSubtype="0" fill="hold" nodeType="afterEffect">
                      <p:stCondLst>
                        <p:cond delay="150"/>
                      </p:stCondLst>
                      <p:childTnLst>
                        <p:set>
                          <p:cBhvr>
                            <p:cTn id="1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2" dur="45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30" presetID="10" presetClass="entr" presetSubtype="0" fill="hold" nodeType="afterEffect">
                      <p:stCondLst>
                        <p:cond delay="200"/>
                      </p:stCondLst>
                      <p:childTnLst>
                        <p:set>
                          <p:cBhvr>
                            <p:cTn id="13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box(in)">
                          <p:cBhvr>
                            <p:cTn id="132" dur="45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B8862E"/>
                </a:solidFill>
                <a:latin typeface="Consolas"/>
              </a:rPr>
              <a:t>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9144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200" b="1" i="0">
                <a:solidFill>
                  <a:srgbClr val="10151C"/>
                </a:solidFill>
                <a:latin typeface="Georgia"/>
              </a:rPr>
              <a:t>Table by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4A5868"/>
                </a:solidFill>
                <a:latin typeface="Segoe UI"/>
              </a:rPr>
              <a:t>Primary keys in gold, foreign keys in teal - every FK enforces referential integrity back to its parent table.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1320" y="0"/>
            <a:ext cx="960120" cy="310896"/>
          </a:xfrm>
          <a:prstGeom prst="rect">
            <a:avLst/>
          </a:prstGeom>
          <a:solidFill>
            <a:srgbClr val="10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EEF1F4"/>
                </a:solidFill>
                <a:latin typeface="Consolas"/>
              </a:rPr>
              <a:t>04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342900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86000"/>
            <a:ext cx="3429000" cy="365760"/>
          </a:xfrm>
          <a:prstGeom prst="rect">
            <a:avLst/>
          </a:prstGeom>
          <a:solidFill>
            <a:srgbClr val="4A5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200" b="1">
                <a:solidFill>
                  <a:srgbClr val="EEF1F4"/>
                </a:solidFill>
                <a:latin typeface="Consolas"/>
              </a:rPr>
              <a:t>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7889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8862E"/>
                </a:solidFill>
                <a:latin typeface="Consolas"/>
              </a:rPr>
              <a:t>PK  </a:t>
            </a:r>
            <a:r>
              <a:rPr sz="1050" b="0" i="0">
                <a:solidFill>
                  <a:srgbClr val="B8862E"/>
                </a:solidFill>
                <a:latin typeface="Consolas"/>
              </a:rPr>
              <a:t>UserID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09067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4A5868"/>
                </a:solidFill>
                <a:latin typeface="Consolas"/>
              </a:rPr>
              <a:t>FullName, 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39242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4A5868"/>
                </a:solidFill>
                <a:latin typeface="Consolas"/>
              </a:rPr>
              <a:t>Phone, Role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07992" y="2286000"/>
            <a:ext cx="342900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07992" y="2286000"/>
            <a:ext cx="3429000" cy="365760"/>
          </a:xfrm>
          <a:prstGeom prst="rect">
            <a:avLst/>
          </a:prstGeom>
          <a:solidFill>
            <a:srgbClr val="4A5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200" b="1">
                <a:solidFill>
                  <a:srgbClr val="EEF1F4"/>
                </a:solidFill>
                <a:latin typeface="Consolas"/>
              </a:rPr>
              <a:t>Items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27889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8862E"/>
                </a:solidFill>
                <a:latin typeface="Consolas"/>
              </a:rPr>
              <a:t>PK  </a:t>
            </a:r>
            <a:r>
              <a:rPr sz="1050" b="0" i="0">
                <a:solidFill>
                  <a:srgbClr val="B8862E"/>
                </a:solidFill>
                <a:latin typeface="Consolas"/>
              </a:rPr>
              <a:t>ItemID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2584" y="309067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4A5868"/>
                </a:solidFill>
                <a:latin typeface="Consolas"/>
              </a:rPr>
              <a:t>Title, Category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339242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4A5868"/>
                </a:solidFill>
                <a:latin typeface="Consolas"/>
              </a:rPr>
              <a:t>ItemType, 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4" y="369417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E7D6B"/>
                </a:solidFill>
                <a:latin typeface="Consolas"/>
              </a:rPr>
              <a:t>FK  </a:t>
            </a:r>
            <a:r>
              <a:rPr sz="1050" b="0" i="0">
                <a:solidFill>
                  <a:srgbClr val="2E7D6B"/>
                </a:solidFill>
                <a:latin typeface="Consolas"/>
              </a:rPr>
              <a:t>ReportedBy -&gt; Users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93024" y="2286000"/>
            <a:ext cx="342900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4" y="2286000"/>
            <a:ext cx="3429000" cy="365760"/>
          </a:xfrm>
          <a:prstGeom prst="rect">
            <a:avLst/>
          </a:prstGeom>
          <a:solidFill>
            <a:srgbClr val="4A5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200" b="1">
                <a:solidFill>
                  <a:srgbClr val="EEF1F4"/>
                </a:solidFill>
                <a:latin typeface="Consolas"/>
              </a:rPr>
              <a:t>Matches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7889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8862E"/>
                </a:solidFill>
                <a:latin typeface="Consolas"/>
              </a:rPr>
              <a:t>PK  </a:t>
            </a:r>
            <a:r>
              <a:rPr sz="1050" b="0" i="0">
                <a:solidFill>
                  <a:srgbClr val="B8862E"/>
                </a:solidFill>
                <a:latin typeface="Consolas"/>
              </a:rPr>
              <a:t>MatchID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309067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E7D6B"/>
                </a:solidFill>
                <a:latin typeface="Consolas"/>
              </a:rPr>
              <a:t>FK  </a:t>
            </a:r>
            <a:r>
              <a:rPr sz="1050" b="0" i="0">
                <a:solidFill>
                  <a:srgbClr val="2E7D6B"/>
                </a:solidFill>
                <a:latin typeface="Consolas"/>
              </a:rPr>
              <a:t>LostItemID -&gt; Items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339242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E7D6B"/>
                </a:solidFill>
                <a:latin typeface="Consolas"/>
              </a:rPr>
              <a:t>FK  </a:t>
            </a:r>
            <a:r>
              <a:rPr sz="1050" b="0" i="0">
                <a:solidFill>
                  <a:srgbClr val="2E7D6B"/>
                </a:solidFill>
                <a:latin typeface="Consolas"/>
              </a:rPr>
              <a:t>FoundItemID -&gt; Items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6" y="369417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4A5868"/>
                </a:solidFill>
                <a:latin typeface="Consolas"/>
              </a:rPr>
              <a:t>MatchScore, Status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507992"/>
            <a:ext cx="342900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4507992"/>
            <a:ext cx="3429000" cy="365760"/>
          </a:xfrm>
          <a:prstGeom prst="rect">
            <a:avLst/>
          </a:prstGeom>
          <a:solidFill>
            <a:srgbClr val="4A5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200" b="1">
                <a:solidFill>
                  <a:srgbClr val="EEF1F4"/>
                </a:solidFill>
                <a:latin typeface="Consolas"/>
              </a:rPr>
              <a:t>ClaimRequests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501091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8862E"/>
                </a:solidFill>
                <a:latin typeface="Consolas"/>
              </a:rPr>
              <a:t>PK  </a:t>
            </a:r>
            <a:r>
              <a:rPr sz="1050" b="0" i="0">
                <a:solidFill>
                  <a:srgbClr val="B8862E"/>
                </a:solidFill>
                <a:latin typeface="Consolas"/>
              </a:rPr>
              <a:t>ClaimID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531266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E7D6B"/>
                </a:solidFill>
                <a:latin typeface="Consolas"/>
              </a:rPr>
              <a:t>FK  </a:t>
            </a:r>
            <a:r>
              <a:rPr sz="1050" b="0" i="0">
                <a:solidFill>
                  <a:srgbClr val="2E7D6B"/>
                </a:solidFill>
                <a:latin typeface="Consolas"/>
              </a:rPr>
              <a:t>ItemID -&gt; Items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561441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E7D6B"/>
                </a:solidFill>
                <a:latin typeface="Consolas"/>
              </a:rPr>
              <a:t>FK  </a:t>
            </a:r>
            <a:r>
              <a:rPr sz="1050" b="0" i="0">
                <a:solidFill>
                  <a:srgbClr val="2E7D6B"/>
                </a:solidFill>
                <a:latin typeface="Consolas"/>
              </a:rPr>
              <a:t>ClaimantID -&gt; Users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591616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4A5868"/>
                </a:solidFill>
                <a:latin typeface="Consolas"/>
              </a:rPr>
              <a:t>Status, ProofDetails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07992" y="4507992"/>
            <a:ext cx="342900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07992" y="4507992"/>
            <a:ext cx="3429000" cy="365760"/>
          </a:xfrm>
          <a:prstGeom prst="rect">
            <a:avLst/>
          </a:prstGeom>
          <a:solidFill>
            <a:srgbClr val="4A5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200" b="1">
                <a:solidFill>
                  <a:srgbClr val="EEF1F4"/>
                </a:solidFill>
                <a:latin typeface="Consolas"/>
              </a:rPr>
              <a:t>AuditLog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72584" y="501091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B8862E"/>
                </a:solidFill>
                <a:latin typeface="Consolas"/>
              </a:rPr>
              <a:t>PK  </a:t>
            </a:r>
            <a:r>
              <a:rPr sz="1050" b="0" i="0">
                <a:solidFill>
                  <a:srgbClr val="B8862E"/>
                </a:solidFill>
                <a:latin typeface="Consolas"/>
              </a:rPr>
              <a:t>LogID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72584" y="531266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4A5868"/>
                </a:solidFill>
                <a:latin typeface="Consolas"/>
              </a:rPr>
              <a:t>ActionType, TableName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72584" y="561441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4A5868"/>
                </a:solidFill>
                <a:latin typeface="Consolas"/>
              </a:rPr>
              <a:t>ActionDetails, ActionAt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446520"/>
            <a:ext cx="11183112" cy="9525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497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 spc="20">
                <a:solidFill>
                  <a:srgbClr val="4A5868"/>
                </a:solidFill>
                <a:latin typeface="Consolas"/>
              </a:rPr>
              <a:t>Lost &amp; Found Campus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497320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 spc="20">
                <a:solidFill>
                  <a:srgbClr val="4A5868"/>
                </a:solidFill>
                <a:latin typeface="Consolas"/>
              </a:rPr>
              <a:t>Schema</a:t>
            </a:r>
          </a:p>
        </p:txBody>
      </p:sp>
    </p:spTree>
  </p:cSld>
  <p:clrMapOvr>
    <a:masterClrMapping/>
  </p:clrMapOvr>
  <p:transition xmlns:p14="http://schemas.microsoft.com/office/powerpoint/2010/main" spd="med" p14:dur="65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45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110" presetID="10" presetClass="entr" presetSubtype="0" fill="hold" nodeType="afterEffect">
                      <p:stCondLst>
                        <p:cond delay="110"/>
                      </p:stCondLst>
                      <p:childTnLst>
                        <p:set>
                          <p:cBhvr>
                            <p:cTn id="1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" dur="45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20" presetID="10" presetClass="entr" presetSubtype="0" fill="hold" nodeType="afterEffect">
                      <p:stCondLst>
                        <p:cond delay="110"/>
                      </p:stCondLst>
                      <p:childTnLst>
                        <p:set>
                          <p:cBhvr>
                            <p:cTn id="1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2" dur="45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30" presetID="10" presetClass="entr" presetSubtype="0" fill="hold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13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wipe(left)">
                          <p:cBhvr>
                            <p:cTn id="132" dur="45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40" presetID="10" presetClass="entr" presetSubtype="0" fill="hold" nodeType="afterEffect">
                      <p:stCondLst>
                        <p:cond delay="110"/>
                      </p:stCondLst>
                      <p:childTnLst>
                        <p:set>
                          <p:cBhvr>
                            <p:cTn id="14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wipe(left)">
                          <p:cBhvr>
                            <p:cTn id="142" dur="45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150" presetID="10" presetClass="entr" presetSubtype="0" fill="hold" nodeType="afterEffect">
                      <p:stCondLst>
                        <p:cond delay="110"/>
                      </p:stCondLst>
                      <p:childTnLst>
                        <p:set>
                          <p:cBhvr>
                            <p:cTn id="15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wipe(left)">
                          <p:cBhvr>
                            <p:cTn id="152" dur="45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160" presetID="10" presetClass="entr" presetSubtype="0" fill="hold" nodeType="afterEffect">
                      <p:stCondLst>
                        <p:cond delay="110"/>
                      </p:stCondLst>
                      <p:childTnLst>
                        <p:set>
                          <p:cBhvr>
                            <p:cTn id="1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wipe(left)">
                          <p:cBhvr>
                            <p:cTn id="162" dur="45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170" presetID="10" presetClass="entr" presetSubtype="0" fill="hold" nodeType="afterEffect">
                      <p:stCondLst>
                        <p:cond delay="110"/>
                      </p:stCondLst>
                      <p:childTnLst>
                        <p:set>
                          <p:cBhvr>
                            <p:cTn id="17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wipe(left)">
                          <p:cBhvr>
                            <p:cTn id="172" dur="45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B8862E"/>
                </a:solidFill>
                <a:latin typeface="Consolas"/>
              </a:rPr>
              <a:t>CONCEPT 1 - JOINS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9144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800" b="1" i="0">
                <a:solidFill>
                  <a:srgbClr val="10151C"/>
                </a:solidFill>
                <a:latin typeface="Georgia"/>
              </a:rPr>
              <a:t>Lost items with reporter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4A5868"/>
                </a:solidFill>
                <a:latin typeface="Segoe UI"/>
              </a:rPr>
              <a:t>Joining Items to Users turns a raw ReportedBy number into a name and email an admin can actually act 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1320" y="0"/>
            <a:ext cx="960120" cy="310896"/>
          </a:xfrm>
          <a:prstGeom prst="rect">
            <a:avLst/>
          </a:prstGeom>
          <a:solidFill>
            <a:srgbClr val="10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EEF1F4"/>
                </a:solidFill>
                <a:latin typeface="Consolas"/>
              </a:rPr>
              <a:t>05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10515600" cy="1417320"/>
          </a:xfrm>
          <a:prstGeom prst="rect">
            <a:avLst/>
          </a:prstGeom>
          <a:solidFill>
            <a:srgbClr val="10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lnSpc>
                <a:spcPct val="135000"/>
              </a:lnSpc>
            </a:pPr>
            <a:r>
              <a:rPr sz="1150" b="1" i="0">
                <a:solidFill>
                  <a:srgbClr val="7FB0E0"/>
                </a:solidFill>
                <a:latin typeface="Consolas"/>
              </a:rPr>
              <a:t>SELECT</a:t>
            </a:r>
            <a:r>
              <a:rPr sz="1150" b="0" i="0">
                <a:solidFill>
                  <a:srgbClr val="DCE6EF"/>
                </a:solidFill>
                <a:latin typeface="Consolas"/>
              </a:rPr>
              <a:t> i.ItemID, i.Title, i.Category, i.Location, i.EventDate,</a:t>
            </a:r>
          </a:p>
          <a:p>
            <a:pPr>
              <a:lnSpc>
                <a:spcPct val="135000"/>
              </a:lnSpc>
            </a:pPr>
            <a:r>
              <a:rPr sz="1150" b="0" i="0">
                <a:solidFill>
                  <a:srgbClr val="DCE6EF"/>
                </a:solidFill>
                <a:latin typeface="Consolas"/>
              </a:rPr>
              <a:t>       u.FullName </a:t>
            </a:r>
            <a:r>
              <a:rPr sz="1150" b="1" i="0">
                <a:solidFill>
                  <a:srgbClr val="7FB0E0"/>
                </a:solidFill>
                <a:latin typeface="Consolas"/>
              </a:rPr>
              <a:t>AS</a:t>
            </a:r>
            <a:r>
              <a:rPr sz="1150" b="0" i="0">
                <a:solidFill>
                  <a:srgbClr val="DCE6EF"/>
                </a:solidFill>
                <a:latin typeface="Consolas"/>
              </a:rPr>
              <a:t> ReportedBy, u.Email</a:t>
            </a:r>
          </a:p>
          <a:p>
            <a:pPr>
              <a:lnSpc>
                <a:spcPct val="135000"/>
              </a:lnSpc>
            </a:pPr>
            <a:r>
              <a:rPr sz="1150" b="1" i="0">
                <a:solidFill>
                  <a:srgbClr val="7FB0E0"/>
                </a:solidFill>
                <a:latin typeface="Consolas"/>
              </a:rPr>
              <a:t>FROM</a:t>
            </a:r>
            <a:r>
              <a:rPr sz="1150" b="0" i="0">
                <a:solidFill>
                  <a:srgbClr val="DCE6EF"/>
                </a:solidFill>
                <a:latin typeface="Consolas"/>
              </a:rPr>
              <a:t> Items i</a:t>
            </a:r>
          </a:p>
          <a:p>
            <a:pPr>
              <a:lnSpc>
                <a:spcPct val="135000"/>
              </a:lnSpc>
            </a:pPr>
            <a:r>
              <a:rPr sz="1150" b="1" i="0">
                <a:solidFill>
                  <a:srgbClr val="7FB0E0"/>
                </a:solidFill>
                <a:latin typeface="Consolas"/>
              </a:rPr>
              <a:t>JOIN</a:t>
            </a:r>
            <a:r>
              <a:rPr sz="1150" b="0" i="0">
                <a:solidFill>
                  <a:srgbClr val="DCE6EF"/>
                </a:solidFill>
                <a:latin typeface="Consolas"/>
              </a:rPr>
              <a:t> Users u </a:t>
            </a:r>
            <a:r>
              <a:rPr sz="1150" b="1" i="0">
                <a:solidFill>
                  <a:srgbClr val="7FB0E0"/>
                </a:solidFill>
                <a:latin typeface="Consolas"/>
              </a:rPr>
              <a:t>ON</a:t>
            </a:r>
            <a:r>
              <a:rPr sz="1150" b="0" i="0">
                <a:solidFill>
                  <a:srgbClr val="DCE6EF"/>
                </a:solidFill>
                <a:latin typeface="Consolas"/>
              </a:rPr>
              <a:t> i.ReportedBy = u.UserID</a:t>
            </a:r>
          </a:p>
          <a:p>
            <a:pPr>
              <a:lnSpc>
                <a:spcPct val="135000"/>
              </a:lnSpc>
            </a:pPr>
            <a:r>
              <a:rPr sz="1150" b="1" i="0">
                <a:solidFill>
                  <a:srgbClr val="7FB0E0"/>
                </a:solidFill>
                <a:latin typeface="Consolas"/>
              </a:rPr>
              <a:t>WHERE</a:t>
            </a:r>
            <a:r>
              <a:rPr sz="1150" b="0" i="0">
                <a:solidFill>
                  <a:srgbClr val="DCE6EF"/>
                </a:solidFill>
                <a:latin typeface="Consolas"/>
              </a:rPr>
              <a:t> i.ItemType = </a:t>
            </a:r>
            <a:r>
              <a:rPr sz="1150" b="0" i="0">
                <a:solidFill>
                  <a:srgbClr val="9BD0A8"/>
                </a:solidFill>
                <a:latin typeface="Consolas"/>
              </a:rPr>
              <a:t>'Lost'</a:t>
            </a:r>
            <a:r>
              <a:rPr sz="1150" b="0" i="0">
                <a:solidFill>
                  <a:srgbClr val="DCE6EF"/>
                </a:solidFill>
                <a:latin typeface="Consolas"/>
              </a:rPr>
              <a:t>;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3611880"/>
          <a:ext cx="10515600" cy="1463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14400"/>
                <a:gridCol w="1920240"/>
                <a:gridCol w="1554480"/>
                <a:gridCol w="1737360"/>
                <a:gridCol w="1645920"/>
                <a:gridCol w="27432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EEF1F4"/>
                          </a:solidFill>
                          <a:latin typeface="Consolas"/>
                        </a:rPr>
                        <a:t>ITEMID</a:t>
                      </a:r>
                    </a:p>
                  </a:txBody>
                  <a:tcPr marL="73152" marR="73152" marT="36576" marB="36576" anchor="ctr">
                    <a:solidFill>
                      <a:srgbClr val="10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EEF1F4"/>
                          </a:solidFill>
                          <a:latin typeface="Consolas"/>
                        </a:rPr>
                        <a:t>TITLE</a:t>
                      </a:r>
                    </a:p>
                  </a:txBody>
                  <a:tcPr marL="73152" marR="73152" marT="36576" marB="36576" anchor="ctr">
                    <a:solidFill>
                      <a:srgbClr val="10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EEF1F4"/>
                          </a:solidFill>
                          <a:latin typeface="Consolas"/>
                        </a:rPr>
                        <a:t>CATEGORY</a:t>
                      </a:r>
                    </a:p>
                  </a:txBody>
                  <a:tcPr marL="73152" marR="73152" marT="36576" marB="36576" anchor="ctr">
                    <a:solidFill>
                      <a:srgbClr val="10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EEF1F4"/>
                          </a:solidFill>
                          <a:latin typeface="Consolas"/>
                        </a:rPr>
                        <a:t>LOCATION</a:t>
                      </a:r>
                    </a:p>
                  </a:txBody>
                  <a:tcPr marL="73152" marR="73152" marT="36576" marB="36576" anchor="ctr">
                    <a:solidFill>
                      <a:srgbClr val="10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EEF1F4"/>
                          </a:solidFill>
                          <a:latin typeface="Consolas"/>
                        </a:rPr>
                        <a:t>REPORTED BY</a:t>
                      </a:r>
                    </a:p>
                  </a:txBody>
                  <a:tcPr marL="73152" marR="73152" marT="36576" marB="36576" anchor="ctr">
                    <a:solidFill>
                      <a:srgbClr val="10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EEF1F4"/>
                          </a:solidFill>
                          <a:latin typeface="Consolas"/>
                        </a:rPr>
                        <a:t>EMAIL</a:t>
                      </a:r>
                    </a:p>
                  </a:txBody>
                  <a:tcPr marL="73152" marR="73152" marT="36576" marB="36576" anchor="ctr">
                    <a:solidFill>
                      <a:srgbClr val="10151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4A5868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4A5868"/>
                          </a:solidFill>
                          <a:latin typeface="Consolas"/>
                        </a:rPr>
                        <a:t>Black Wallet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4A5868"/>
                          </a:solidFill>
                          <a:latin typeface="Consolas"/>
                        </a:rPr>
                        <a:t>Wallet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4A5868"/>
                          </a:solidFill>
                          <a:latin typeface="Consolas"/>
                        </a:rPr>
                        <a:t>Library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4A5868"/>
                          </a:solidFill>
                          <a:latin typeface="Consolas"/>
                        </a:rPr>
                        <a:t>Ali Raza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4A5868"/>
                          </a:solidFill>
                          <a:latin typeface="Consolas"/>
                        </a:rPr>
                        <a:t>ali.raza@campus.edu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4A5868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4A5868"/>
                          </a:solidFill>
                          <a:latin typeface="Consolas"/>
                        </a:rPr>
                        <a:t>iPhone 13</a:t>
                      </a:r>
                    </a:p>
                  </a:txBody>
                  <a:tcPr marL="73152" marR="73152" marT="27432" marB="27432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4A5868"/>
                          </a:solidFill>
                          <a:latin typeface="Consolas"/>
                        </a:rPr>
                        <a:t>Electronics</a:t>
                      </a:r>
                    </a:p>
                  </a:txBody>
                  <a:tcPr marL="73152" marR="73152" marT="27432" marB="27432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4A5868"/>
                          </a:solidFill>
                          <a:latin typeface="Consolas"/>
                        </a:rPr>
                        <a:t>Cafeteria</a:t>
                      </a:r>
                    </a:p>
                  </a:txBody>
                  <a:tcPr marL="73152" marR="73152" marT="27432" marB="27432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4A5868"/>
                          </a:solidFill>
                          <a:latin typeface="Consolas"/>
                        </a:rPr>
                        <a:t>Sara Khan</a:t>
                      </a:r>
                    </a:p>
                  </a:txBody>
                  <a:tcPr marL="73152" marR="73152" marT="27432" marB="27432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4A5868"/>
                          </a:solidFill>
                          <a:latin typeface="Consolas"/>
                        </a:rPr>
                        <a:t>sara.khan@campus.edu</a:t>
                      </a:r>
                    </a:p>
                  </a:txBody>
                  <a:tcPr marL="73152" marR="73152" marT="27432" marB="27432" anchor="ctr">
                    <a:solidFill>
                      <a:srgbClr val="EEF1F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4A5868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4A5868"/>
                          </a:solidFill>
                          <a:latin typeface="Consolas"/>
                        </a:rPr>
                        <a:t>Blue Water Bottle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4A5868"/>
                          </a:solidFill>
                          <a:latin typeface="Consolas"/>
                        </a:rPr>
                        <a:t>Bottle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4A5868"/>
                          </a:solidFill>
                          <a:latin typeface="Consolas"/>
                        </a:rPr>
                        <a:t>Sports Ground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4A5868"/>
                          </a:solidFill>
                          <a:latin typeface="Consolas"/>
                        </a:rPr>
                        <a:t>Bilal Ahmed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4A5868"/>
                          </a:solidFill>
                          <a:latin typeface="Consolas"/>
                        </a:rPr>
                        <a:t>bilal.ahmed@campus.edu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21208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4A5868"/>
                </a:solidFill>
                <a:latin typeface="Consolas"/>
              </a:rPr>
              <a:t>Output captured from SQL Server Management Studio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46520"/>
            <a:ext cx="11183112" cy="9525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97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 spc="20">
                <a:solidFill>
                  <a:srgbClr val="4A5868"/>
                </a:solidFill>
                <a:latin typeface="Consolas"/>
              </a:rPr>
              <a:t>Lost &amp; Found Campus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97320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 spc="20">
                <a:solidFill>
                  <a:srgbClr val="4A5868"/>
                </a:solidFill>
                <a:latin typeface="Consolas"/>
              </a:rPr>
              <a:t>Joins</a:t>
            </a:r>
          </a:p>
        </p:txBody>
      </p:sp>
    </p:spTree>
  </p:cSld>
  <p:clrMapOvr>
    <a:masterClrMapping/>
  </p:clrMapOvr>
  <p:transition xmlns:p14="http://schemas.microsoft.com/office/powerpoint/2010/main" spd="med" p14:dur="650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45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110" presetID="10" presetClass="entr" presetSubtype="0" fill="hold" nodeType="afterEffect">
                      <p:stCondLst>
                        <p:cond delay="150"/>
                      </p:stCondLst>
                      <p:childTnLst>
                        <p:set>
                          <p:cBhvr>
                            <p:cTn id="1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" dur="45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20" presetID="10" presetClass="entr" presetSubtype="0" fill="hold" nodeType="afterEffect">
                      <p:stCondLst>
                        <p:cond delay="150"/>
                      </p:stCondLst>
                      <p:childTnLst>
                        <p:set>
                          <p:cBhvr>
                            <p:cTn id="1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2" dur="45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30" presetID="10" presetClass="entr" presetSubtype="0" fill="hold" nodeType="afterEffect">
                      <p:stCondLst>
                        <p:cond delay="200"/>
                      </p:stCondLst>
                      <p:childTnLst>
                        <p:set>
                          <p:cBhvr>
                            <p:cTn id="13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wipe(bottom)">
                          <p:cBhvr>
                            <p:cTn id="132" dur="45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40" presetID="10" presetClass="entr" presetSubtype="0" fill="hold" nodeType="afterEffect">
                      <p:stCondLst>
                        <p:cond delay="200"/>
                      </p:stCondLst>
                      <p:childTnLst>
                        <p:set>
                          <p:cBhvr>
                            <p:cTn id="14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2" dur="45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B8862E"/>
                </a:solidFill>
                <a:latin typeface="Consolas"/>
              </a:rPr>
              <a:t>CONCEPT 2 - TRIGGERS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9144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200" b="1" i="0">
                <a:solidFill>
                  <a:srgbClr val="10151C"/>
                </a:solidFill>
                <a:latin typeface="Georgia"/>
              </a:rPr>
              <a:t>Status updates itself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4A5868"/>
                </a:solidFill>
                <a:latin typeface="Segoe UI"/>
              </a:rPr>
              <a:t>When an admin approves a claim, trg_ClaimRequest_Approved fires automatically - no application code has to remember to update the item.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1320" y="0"/>
            <a:ext cx="960120" cy="310896"/>
          </a:xfrm>
          <a:prstGeom prst="rect">
            <a:avLst/>
          </a:prstGeom>
          <a:solidFill>
            <a:srgbClr val="10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EEF1F4"/>
                </a:solidFill>
                <a:latin typeface="Consolas"/>
              </a:rPr>
              <a:t>06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11680"/>
            <a:ext cx="10515600" cy="2606040"/>
          </a:xfrm>
          <a:prstGeom prst="rect">
            <a:avLst/>
          </a:prstGeom>
          <a:solidFill>
            <a:srgbClr val="10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lnSpc>
                <a:spcPct val="135000"/>
              </a:lnSpc>
            </a:pPr>
            <a:r>
              <a:rPr sz="1150" b="0" i="1">
                <a:solidFill>
                  <a:srgbClr val="9CA8B5"/>
                </a:solidFill>
                <a:latin typeface="Consolas"/>
              </a:rPr>
              <a:t>-- fires AFTER UPDATE on ClaimRequests</a:t>
            </a:r>
          </a:p>
          <a:p>
            <a:pPr>
              <a:lnSpc>
                <a:spcPct val="135000"/>
              </a:lnSpc>
            </a:pPr>
            <a:r>
              <a:rPr sz="1150" b="1" i="0">
                <a:solidFill>
                  <a:srgbClr val="7FB0E0"/>
                </a:solidFill>
                <a:latin typeface="Consolas"/>
              </a:rPr>
              <a:t>UPDATE</a:t>
            </a:r>
            <a:r>
              <a:rPr sz="1150" b="0" i="0">
                <a:solidFill>
                  <a:srgbClr val="DCE6EF"/>
                </a:solidFill>
                <a:latin typeface="Consolas"/>
              </a:rPr>
              <a:t> i </a:t>
            </a:r>
            <a:r>
              <a:rPr sz="1150" b="1" i="0">
                <a:solidFill>
                  <a:srgbClr val="7FB0E0"/>
                </a:solidFill>
                <a:latin typeface="Consolas"/>
              </a:rPr>
              <a:t>SET</a:t>
            </a:r>
            <a:r>
              <a:rPr sz="1150" b="0" i="0">
                <a:solidFill>
                  <a:srgbClr val="DCE6EF"/>
                </a:solidFill>
                <a:latin typeface="Consolas"/>
              </a:rPr>
              <a:t> i.Status = </a:t>
            </a:r>
            <a:r>
              <a:rPr sz="1150" b="0" i="0">
                <a:solidFill>
                  <a:srgbClr val="9BD0A8"/>
                </a:solidFill>
                <a:latin typeface="Consolas"/>
              </a:rPr>
              <a:t>'Claimed'</a:t>
            </a:r>
          </a:p>
          <a:p>
            <a:pPr>
              <a:lnSpc>
                <a:spcPct val="135000"/>
              </a:lnSpc>
            </a:pPr>
            <a:r>
              <a:rPr sz="1150" b="1" i="0">
                <a:solidFill>
                  <a:srgbClr val="7FB0E0"/>
                </a:solidFill>
                <a:latin typeface="Consolas"/>
              </a:rPr>
              <a:t>FROM</a:t>
            </a:r>
            <a:r>
              <a:rPr sz="1150" b="0" i="0">
                <a:solidFill>
                  <a:srgbClr val="DCE6EF"/>
                </a:solidFill>
                <a:latin typeface="Consolas"/>
              </a:rPr>
              <a:t> Items i </a:t>
            </a:r>
            <a:r>
              <a:rPr sz="1150" b="1" i="0">
                <a:solidFill>
                  <a:srgbClr val="7FB0E0"/>
                </a:solidFill>
                <a:latin typeface="Consolas"/>
              </a:rPr>
              <a:t>JOIN</a:t>
            </a:r>
            <a:r>
              <a:rPr sz="1150" b="0" i="0">
                <a:solidFill>
                  <a:srgbClr val="DCE6EF"/>
                </a:solidFill>
                <a:latin typeface="Consolas"/>
              </a:rPr>
              <a:t> inserted ins </a:t>
            </a:r>
            <a:r>
              <a:rPr sz="1150" b="1" i="0">
                <a:solidFill>
                  <a:srgbClr val="7FB0E0"/>
                </a:solidFill>
                <a:latin typeface="Consolas"/>
              </a:rPr>
              <a:t>ON</a:t>
            </a:r>
            <a:r>
              <a:rPr sz="1150" b="0" i="0">
                <a:solidFill>
                  <a:srgbClr val="DCE6EF"/>
                </a:solidFill>
                <a:latin typeface="Consolas"/>
              </a:rPr>
              <a:t> i.ItemID = ins.ItemID</a:t>
            </a:r>
          </a:p>
          <a:p>
            <a:pPr>
              <a:lnSpc>
                <a:spcPct val="135000"/>
              </a:lnSpc>
            </a:pPr>
            <a:r>
              <a:rPr sz="1150" b="1" i="0">
                <a:solidFill>
                  <a:srgbClr val="7FB0E0"/>
                </a:solidFill>
                <a:latin typeface="Consolas"/>
              </a:rPr>
              <a:t>WHERE</a:t>
            </a:r>
            <a:r>
              <a:rPr sz="1150" b="0" i="0">
                <a:solidFill>
                  <a:srgbClr val="DCE6EF"/>
                </a:solidFill>
                <a:latin typeface="Consolas"/>
              </a:rPr>
              <a:t> ins.Status = </a:t>
            </a:r>
            <a:r>
              <a:rPr sz="1150" b="0" i="0">
                <a:solidFill>
                  <a:srgbClr val="9BD0A8"/>
                </a:solidFill>
                <a:latin typeface="Consolas"/>
              </a:rPr>
              <a:t>'Approved'</a:t>
            </a:r>
            <a:r>
              <a:rPr sz="1150" b="0" i="0">
                <a:solidFill>
                  <a:srgbClr val="DCE6EF"/>
                </a:solidFill>
                <a:latin typeface="Consolas"/>
              </a:rPr>
              <a:t>;</a:t>
            </a:r>
          </a:p>
          <a:p>
            <a:pPr>
              <a:lnSpc>
                <a:spcPct val="135000"/>
              </a:lnSpc>
            </a:pPr>
            <a:r>
              <a:rPr sz="1150" b="0" i="0">
                <a:solidFill>
                  <a:srgbClr val="DCE6EF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150" b="0" i="1">
                <a:solidFill>
                  <a:srgbClr val="9CA8B5"/>
                </a:solidFill>
                <a:latin typeface="Consolas"/>
              </a:rPr>
              <a:t>-- auto-reject any other pending claim on the same item</a:t>
            </a:r>
          </a:p>
          <a:p>
            <a:pPr>
              <a:lnSpc>
                <a:spcPct val="135000"/>
              </a:lnSpc>
            </a:pPr>
            <a:r>
              <a:rPr sz="1150" b="1" i="0">
                <a:solidFill>
                  <a:srgbClr val="7FB0E0"/>
                </a:solidFill>
                <a:latin typeface="Consolas"/>
              </a:rPr>
              <a:t>UPDATE</a:t>
            </a:r>
            <a:r>
              <a:rPr sz="1150" b="0" i="0">
                <a:solidFill>
                  <a:srgbClr val="DCE6EF"/>
                </a:solidFill>
                <a:latin typeface="Consolas"/>
              </a:rPr>
              <a:t> cr </a:t>
            </a:r>
            <a:r>
              <a:rPr sz="1150" b="1" i="0">
                <a:solidFill>
                  <a:srgbClr val="7FB0E0"/>
                </a:solidFill>
                <a:latin typeface="Consolas"/>
              </a:rPr>
              <a:t>SET</a:t>
            </a:r>
            <a:r>
              <a:rPr sz="1150" b="0" i="0">
                <a:solidFill>
                  <a:srgbClr val="DCE6EF"/>
                </a:solidFill>
                <a:latin typeface="Consolas"/>
              </a:rPr>
              <a:t> cr.Status = </a:t>
            </a:r>
            <a:r>
              <a:rPr sz="1150" b="0" i="0">
                <a:solidFill>
                  <a:srgbClr val="9BD0A8"/>
                </a:solidFill>
                <a:latin typeface="Consolas"/>
              </a:rPr>
              <a:t>'Rejected'</a:t>
            </a:r>
          </a:p>
          <a:p>
            <a:pPr>
              <a:lnSpc>
                <a:spcPct val="135000"/>
              </a:lnSpc>
            </a:pPr>
            <a:r>
              <a:rPr sz="1150" b="1" i="0">
                <a:solidFill>
                  <a:srgbClr val="7FB0E0"/>
                </a:solidFill>
                <a:latin typeface="Consolas"/>
              </a:rPr>
              <a:t>FROM</a:t>
            </a:r>
            <a:r>
              <a:rPr sz="1150" b="0" i="0">
                <a:solidFill>
                  <a:srgbClr val="DCE6EF"/>
                </a:solidFill>
                <a:latin typeface="Consolas"/>
              </a:rPr>
              <a:t> ClaimRequests cr </a:t>
            </a:r>
            <a:r>
              <a:rPr sz="1150" b="1" i="0">
                <a:solidFill>
                  <a:srgbClr val="7FB0E0"/>
                </a:solidFill>
                <a:latin typeface="Consolas"/>
              </a:rPr>
              <a:t>JOIN</a:t>
            </a:r>
            <a:r>
              <a:rPr sz="1150" b="0" i="0">
                <a:solidFill>
                  <a:srgbClr val="DCE6EF"/>
                </a:solidFill>
                <a:latin typeface="Consolas"/>
              </a:rPr>
              <a:t> inserted ins </a:t>
            </a:r>
            <a:r>
              <a:rPr sz="1150" b="1" i="0">
                <a:solidFill>
                  <a:srgbClr val="7FB0E0"/>
                </a:solidFill>
                <a:latin typeface="Consolas"/>
              </a:rPr>
              <a:t>ON</a:t>
            </a:r>
            <a:r>
              <a:rPr sz="1150" b="0" i="0">
                <a:solidFill>
                  <a:srgbClr val="DCE6EF"/>
                </a:solidFill>
                <a:latin typeface="Consolas"/>
              </a:rPr>
              <a:t> cr.ItemID = ins.ItemID</a:t>
            </a:r>
          </a:p>
          <a:p>
            <a:pPr>
              <a:lnSpc>
                <a:spcPct val="135000"/>
              </a:lnSpc>
            </a:pPr>
            <a:r>
              <a:rPr sz="1150" b="1" i="0">
                <a:solidFill>
                  <a:srgbClr val="7FB0E0"/>
                </a:solidFill>
                <a:latin typeface="Consolas"/>
              </a:rPr>
              <a:t>WHERE</a:t>
            </a:r>
            <a:r>
              <a:rPr sz="1150" b="0" i="0">
                <a:solidFill>
                  <a:srgbClr val="DCE6EF"/>
                </a:solidFill>
                <a:latin typeface="Consolas"/>
              </a:rPr>
              <a:t> ins.Status = </a:t>
            </a:r>
            <a:r>
              <a:rPr sz="1150" b="0" i="0">
                <a:solidFill>
                  <a:srgbClr val="9BD0A8"/>
                </a:solidFill>
                <a:latin typeface="Consolas"/>
              </a:rPr>
              <a:t>'Approved'</a:t>
            </a:r>
            <a:r>
              <a:rPr sz="1150" b="0" i="0">
                <a:solidFill>
                  <a:srgbClr val="DCE6EF"/>
                </a:solidFill>
                <a:latin typeface="Consolas"/>
              </a:rPr>
              <a:t> </a:t>
            </a:r>
            <a:r>
              <a:rPr sz="1150" b="1" i="0">
                <a:solidFill>
                  <a:srgbClr val="7FB0E0"/>
                </a:solidFill>
                <a:latin typeface="Consolas"/>
              </a:rPr>
              <a:t>AND</a:t>
            </a:r>
            <a:r>
              <a:rPr sz="1150" b="0" i="0">
                <a:solidFill>
                  <a:srgbClr val="DCE6EF"/>
                </a:solidFill>
                <a:latin typeface="Consolas"/>
              </a:rPr>
              <a:t> cr.ClaimID &lt;&gt; ins.ClaimID;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89204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E7D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B8862E"/>
                </a:solidFill>
                <a:latin typeface="Consolas"/>
              </a:rPr>
              <a:t>OPEN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4873752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4A5868"/>
                </a:solidFill>
                <a:latin typeface="Consolas"/>
              </a:rPr>
              <a:t>-&gt;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4892040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E7D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B8862E"/>
                </a:solidFill>
                <a:latin typeface="Consolas"/>
              </a:rPr>
              <a:t>CLAIMPENDING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4873752"/>
            <a:ext cx="457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4A5868"/>
                </a:solidFill>
                <a:latin typeface="Consolas"/>
              </a:rPr>
              <a:t>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489204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D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2E7D6B"/>
                </a:solidFill>
                <a:latin typeface="Consolas"/>
              </a:rPr>
              <a:t>CLAIMED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489204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D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2E7D6B"/>
                </a:solidFill>
                <a:latin typeface="Consolas"/>
              </a:rPr>
              <a:t>VERIFIED IN SSMS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46520"/>
            <a:ext cx="11183112" cy="9525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97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 spc="20">
                <a:solidFill>
                  <a:srgbClr val="4A5868"/>
                </a:solidFill>
                <a:latin typeface="Consolas"/>
              </a:rPr>
              <a:t>Lost &amp; Found Campus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6497320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 spc="20">
                <a:solidFill>
                  <a:srgbClr val="4A5868"/>
                </a:solidFill>
                <a:latin typeface="Consolas"/>
              </a:rPr>
              <a:t>Triggers</a:t>
            </a:r>
          </a:p>
        </p:txBody>
      </p:sp>
    </p:spTree>
  </p:cSld>
  <p:clrMapOvr>
    <a:masterClrMapping/>
  </p:clrMapOvr>
  <p:transition xmlns:p14="http://schemas.microsoft.com/office/powerpoint/2010/main" spd="med" p14:dur="650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45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110" presetID="10" presetClass="entr" presetSubtype="0" fill="hold" nodeType="afterEffect">
                      <p:stCondLst>
                        <p:cond delay="120"/>
                      </p:stCondLst>
                      <p:childTnLst>
                        <p:set>
                          <p:cBhvr>
                            <p:cTn id="1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" dur="45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20" presetID="10" presetClass="entr" presetSubtype="0" fill="hold" nodeType="afterEffect">
                      <p:stCondLst>
                        <p:cond delay="120"/>
                      </p:stCondLst>
                      <p:childTnLst>
                        <p:set>
                          <p:cBhvr>
                            <p:cTn id="1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2" dur="45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30" presetID="10" presetClass="entr" presetSubtype="0" fill="hold" nodeType="afterEffect">
                      <p:stCondLst>
                        <p:cond delay="200"/>
                      </p:stCondLst>
                      <p:childTnLst>
                        <p:set>
                          <p:cBhvr>
                            <p:cTn id="13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wipe(bottom)">
                          <p:cBhvr>
                            <p:cTn id="132" dur="45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40" presetID="10" presetClass="entr" presetSubtype="0" fill="hold" nodeType="afterEffect">
                      <p:stCondLst>
                        <p:cond delay="200"/>
                      </p:stCondLst>
                      <p:childTnLst>
                        <p:set>
                          <p:cBhvr>
                            <p:cTn id="14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box(in)">
                          <p:cBhvr>
                            <p:cTn id="142" dur="45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50" presetID="10" presetClass="entr" presetSubtype="0" fill="hold" nodeType="afterEffect">
                      <p:stCondLst>
                        <p:cond delay="120"/>
                      </p:stCondLst>
                      <p:childTnLst>
                        <p:set>
                          <p:cBhvr>
                            <p:cTn id="15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box(in)">
                          <p:cBhvr>
                            <p:cTn id="152" dur="45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60" presetID="10" presetClass="entr" presetSubtype="0" fill="hold" nodeType="afterEffect">
                      <p:stCondLst>
                        <p:cond delay="120"/>
                      </p:stCondLst>
                      <p:childTnLst>
                        <p:set>
                          <p:cBhvr>
                            <p:cTn id="1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box(in)">
                          <p:cBhvr>
                            <p:cTn id="162" dur="45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170" presetID="10" presetClass="entr" presetSubtype="0" fill="hold" nodeType="afterEffect">
                      <p:stCondLst>
                        <p:cond delay="120"/>
                      </p:stCondLst>
                      <p:childTnLst>
                        <p:set>
                          <p:cBhvr>
                            <p:cTn id="17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box(in)">
                          <p:cBhvr>
                            <p:cTn id="172" dur="45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B8862E"/>
                </a:solidFill>
                <a:latin typeface="Consolas"/>
              </a:rPr>
              <a:t>CONCEPT 3 - STORED PROCEDURES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9144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0151C"/>
                </a:solidFill>
                <a:latin typeface="Georgia"/>
              </a:rPr>
              <a:t>sp_MatchItems - auto-matching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4A5868"/>
                </a:solidFill>
                <a:latin typeface="Segoe UI"/>
              </a:rPr>
              <a:t>One call scans every open Lost and Found item and inserts every plausible pair into Matches, scored by location.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1320" y="0"/>
            <a:ext cx="960120" cy="310896"/>
          </a:xfrm>
          <a:prstGeom prst="rect">
            <a:avLst/>
          </a:prstGeom>
          <a:solidFill>
            <a:srgbClr val="10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EEF1F4"/>
                </a:solidFill>
                <a:latin typeface="Consolas"/>
              </a:rPr>
              <a:t>07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10515600" cy="2286000"/>
          </a:xfrm>
          <a:prstGeom prst="rect">
            <a:avLst/>
          </a:prstGeom>
          <a:solidFill>
            <a:srgbClr val="10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>
              <a:lnSpc>
                <a:spcPct val="135000"/>
              </a:lnSpc>
            </a:pPr>
            <a:r>
              <a:rPr sz="1150" b="1" i="0">
                <a:solidFill>
                  <a:srgbClr val="7FB0E0"/>
                </a:solidFill>
                <a:latin typeface="Consolas"/>
              </a:rPr>
              <a:t>INSERT INTO</a:t>
            </a:r>
            <a:r>
              <a:rPr sz="1150" b="0" i="0">
                <a:solidFill>
                  <a:srgbClr val="DCE6EF"/>
                </a:solidFill>
                <a:latin typeface="Consolas"/>
              </a:rPr>
              <a:t> Matches (LostItemID, FoundItemID, MatchScore, Status)</a:t>
            </a:r>
          </a:p>
          <a:p>
            <a:pPr>
              <a:lnSpc>
                <a:spcPct val="135000"/>
              </a:lnSpc>
            </a:pPr>
            <a:r>
              <a:rPr sz="1150" b="1" i="0">
                <a:solidFill>
                  <a:srgbClr val="7FB0E0"/>
                </a:solidFill>
                <a:latin typeface="Consolas"/>
              </a:rPr>
              <a:t>SELECT</a:t>
            </a:r>
            <a:r>
              <a:rPr sz="1150" b="0" i="0">
                <a:solidFill>
                  <a:srgbClr val="DCE6EF"/>
                </a:solidFill>
                <a:latin typeface="Consolas"/>
              </a:rPr>
              <a:t> l.ItemID, f.ItemID,</a:t>
            </a:r>
          </a:p>
          <a:p>
            <a:pPr>
              <a:lnSpc>
                <a:spcPct val="135000"/>
              </a:lnSpc>
            </a:pPr>
            <a:r>
              <a:rPr sz="1150" b="0" i="0">
                <a:solidFill>
                  <a:srgbClr val="DCE6EF"/>
                </a:solidFill>
                <a:latin typeface="Consolas"/>
              </a:rPr>
              <a:t>       </a:t>
            </a:r>
            <a:r>
              <a:rPr sz="1150" b="1" i="0">
                <a:solidFill>
                  <a:srgbClr val="7FB0E0"/>
                </a:solidFill>
                <a:latin typeface="Consolas"/>
              </a:rPr>
              <a:t>CASE WHEN</a:t>
            </a:r>
            <a:r>
              <a:rPr sz="1150" b="0" i="0">
                <a:solidFill>
                  <a:srgbClr val="DCE6EF"/>
                </a:solidFill>
                <a:latin typeface="Consolas"/>
              </a:rPr>
              <a:t> l.Location = f.Location </a:t>
            </a:r>
            <a:r>
              <a:rPr sz="1150" b="1" i="0">
                <a:solidFill>
                  <a:srgbClr val="7FB0E0"/>
                </a:solidFill>
                <a:latin typeface="Consolas"/>
              </a:rPr>
              <a:t>THEN</a:t>
            </a:r>
            <a:r>
              <a:rPr sz="1150" b="0" i="0">
                <a:solidFill>
                  <a:srgbClr val="DCE6EF"/>
                </a:solidFill>
                <a:latin typeface="Consolas"/>
              </a:rPr>
              <a:t> 80 </a:t>
            </a:r>
            <a:r>
              <a:rPr sz="1150" b="1" i="0">
                <a:solidFill>
                  <a:srgbClr val="7FB0E0"/>
                </a:solidFill>
                <a:latin typeface="Consolas"/>
              </a:rPr>
              <a:t>ELSE</a:t>
            </a:r>
            <a:r>
              <a:rPr sz="1150" b="0" i="0">
                <a:solidFill>
                  <a:srgbClr val="DCE6EF"/>
                </a:solidFill>
                <a:latin typeface="Consolas"/>
              </a:rPr>
              <a:t> 50 </a:t>
            </a:r>
            <a:r>
              <a:rPr sz="1150" b="1" i="0">
                <a:solidFill>
                  <a:srgbClr val="7FB0E0"/>
                </a:solidFill>
                <a:latin typeface="Consolas"/>
              </a:rPr>
              <a:t>END</a:t>
            </a:r>
            <a:r>
              <a:rPr sz="1150" b="0" i="0">
                <a:solidFill>
                  <a:srgbClr val="DCE6EF"/>
                </a:solidFill>
                <a:latin typeface="Consolas"/>
              </a:rPr>
              <a:t>, </a:t>
            </a:r>
            <a:r>
              <a:rPr sz="1150" b="0" i="0">
                <a:solidFill>
                  <a:srgbClr val="9BD0A8"/>
                </a:solidFill>
                <a:latin typeface="Consolas"/>
              </a:rPr>
              <a:t>'Suggested'</a:t>
            </a:r>
          </a:p>
          <a:p>
            <a:pPr>
              <a:lnSpc>
                <a:spcPct val="135000"/>
              </a:lnSpc>
            </a:pPr>
            <a:r>
              <a:rPr sz="1150" b="1" i="0">
                <a:solidFill>
                  <a:srgbClr val="7FB0E0"/>
                </a:solidFill>
                <a:latin typeface="Consolas"/>
              </a:rPr>
              <a:t>FROM</a:t>
            </a:r>
            <a:r>
              <a:rPr sz="1150" b="0" i="0">
                <a:solidFill>
                  <a:srgbClr val="DCE6EF"/>
                </a:solidFill>
                <a:latin typeface="Consolas"/>
              </a:rPr>
              <a:t> Items l</a:t>
            </a:r>
          </a:p>
          <a:p>
            <a:pPr>
              <a:lnSpc>
                <a:spcPct val="135000"/>
              </a:lnSpc>
            </a:pPr>
            <a:r>
              <a:rPr sz="1150" b="1" i="0">
                <a:solidFill>
                  <a:srgbClr val="7FB0E0"/>
                </a:solidFill>
                <a:latin typeface="Consolas"/>
              </a:rPr>
              <a:t>JOIN</a:t>
            </a:r>
            <a:r>
              <a:rPr sz="1150" b="0" i="0">
                <a:solidFill>
                  <a:srgbClr val="DCE6EF"/>
                </a:solidFill>
                <a:latin typeface="Consolas"/>
              </a:rPr>
              <a:t> Items f </a:t>
            </a:r>
            <a:r>
              <a:rPr sz="1150" b="1" i="0">
                <a:solidFill>
                  <a:srgbClr val="7FB0E0"/>
                </a:solidFill>
                <a:latin typeface="Consolas"/>
              </a:rPr>
              <a:t>ON</a:t>
            </a:r>
            <a:r>
              <a:rPr sz="1150" b="0" i="0">
                <a:solidFill>
                  <a:srgbClr val="DCE6EF"/>
                </a:solidFill>
                <a:latin typeface="Consolas"/>
              </a:rPr>
              <a:t> l.Category = f.Category</a:t>
            </a:r>
          </a:p>
          <a:p>
            <a:pPr>
              <a:lnSpc>
                <a:spcPct val="135000"/>
              </a:lnSpc>
            </a:pPr>
            <a:r>
              <a:rPr sz="1150" b="0" i="0">
                <a:solidFill>
                  <a:srgbClr val="DCE6EF"/>
                </a:solidFill>
                <a:latin typeface="Consolas"/>
              </a:rPr>
              <a:t>    </a:t>
            </a:r>
            <a:r>
              <a:rPr sz="1150" b="1" i="0">
                <a:solidFill>
                  <a:srgbClr val="7FB0E0"/>
                </a:solidFill>
                <a:latin typeface="Consolas"/>
              </a:rPr>
              <a:t>AND</a:t>
            </a:r>
            <a:r>
              <a:rPr sz="1150" b="0" i="0">
                <a:solidFill>
                  <a:srgbClr val="DCE6EF"/>
                </a:solidFill>
                <a:latin typeface="Consolas"/>
              </a:rPr>
              <a:t> l.ItemType = </a:t>
            </a:r>
            <a:r>
              <a:rPr sz="1150" b="0" i="0">
                <a:solidFill>
                  <a:srgbClr val="9BD0A8"/>
                </a:solidFill>
                <a:latin typeface="Consolas"/>
              </a:rPr>
              <a:t>'Lost'</a:t>
            </a:r>
            <a:r>
              <a:rPr sz="1150" b="0" i="0">
                <a:solidFill>
                  <a:srgbClr val="DCE6EF"/>
                </a:solidFill>
                <a:latin typeface="Consolas"/>
              </a:rPr>
              <a:t> </a:t>
            </a:r>
            <a:r>
              <a:rPr sz="1150" b="1" i="0">
                <a:solidFill>
                  <a:srgbClr val="7FB0E0"/>
                </a:solidFill>
                <a:latin typeface="Consolas"/>
              </a:rPr>
              <a:t>AND</a:t>
            </a:r>
            <a:r>
              <a:rPr sz="1150" b="0" i="0">
                <a:solidFill>
                  <a:srgbClr val="DCE6EF"/>
                </a:solidFill>
                <a:latin typeface="Consolas"/>
              </a:rPr>
              <a:t> f.ItemType = </a:t>
            </a:r>
            <a:r>
              <a:rPr sz="1150" b="0" i="0">
                <a:solidFill>
                  <a:srgbClr val="9BD0A8"/>
                </a:solidFill>
                <a:latin typeface="Consolas"/>
              </a:rPr>
              <a:t>'Found'</a:t>
            </a:r>
          </a:p>
          <a:p>
            <a:pPr>
              <a:lnSpc>
                <a:spcPct val="135000"/>
              </a:lnSpc>
            </a:pPr>
            <a:r>
              <a:rPr sz="1150" b="0" i="0">
                <a:solidFill>
                  <a:srgbClr val="DCE6EF"/>
                </a:solidFill>
                <a:latin typeface="Consolas"/>
              </a:rPr>
              <a:t>    </a:t>
            </a:r>
            <a:r>
              <a:rPr sz="1150" b="1" i="0">
                <a:solidFill>
                  <a:srgbClr val="7FB0E0"/>
                </a:solidFill>
                <a:latin typeface="Consolas"/>
              </a:rPr>
              <a:t>AND</a:t>
            </a:r>
            <a:r>
              <a:rPr sz="1150" b="0" i="0">
                <a:solidFill>
                  <a:srgbClr val="DCE6EF"/>
                </a:solidFill>
                <a:latin typeface="Consolas"/>
              </a:rPr>
              <a:t> f.EventDate </a:t>
            </a:r>
            <a:r>
              <a:rPr sz="1150" b="1" i="0">
                <a:solidFill>
                  <a:srgbClr val="7FB0E0"/>
                </a:solidFill>
                <a:latin typeface="Consolas"/>
              </a:rPr>
              <a:t>BETWEEN</a:t>
            </a:r>
            <a:r>
              <a:rPr sz="1150" b="0" i="0">
                <a:solidFill>
                  <a:srgbClr val="DCE6EF"/>
                </a:solidFill>
                <a:latin typeface="Consolas"/>
              </a:rPr>
              <a:t> l.EventDate </a:t>
            </a:r>
            <a:r>
              <a:rPr sz="1150" b="1" i="0">
                <a:solidFill>
                  <a:srgbClr val="7FB0E0"/>
                </a:solidFill>
                <a:latin typeface="Consolas"/>
              </a:rPr>
              <a:t>AND</a:t>
            </a:r>
            <a:r>
              <a:rPr sz="1150" b="0" i="0">
                <a:solidFill>
                  <a:srgbClr val="DCE6EF"/>
                </a:solidFill>
                <a:latin typeface="Consolas"/>
              </a:rPr>
              <a:t> DATEADD(DAY, 7, l.EventDate)</a:t>
            </a:r>
          </a:p>
          <a:p>
            <a:pPr>
              <a:lnSpc>
                <a:spcPct val="135000"/>
              </a:lnSpc>
            </a:pPr>
            <a:r>
              <a:rPr sz="1150" b="1" i="0">
                <a:solidFill>
                  <a:srgbClr val="7FB0E0"/>
                </a:solidFill>
                <a:latin typeface="Consolas"/>
              </a:rPr>
              <a:t>WHERE</a:t>
            </a:r>
            <a:r>
              <a:rPr sz="1150" b="0" i="0">
                <a:solidFill>
                  <a:srgbClr val="DCE6EF"/>
                </a:solidFill>
                <a:latin typeface="Consolas"/>
              </a:rPr>
              <a:t> l.Status = </a:t>
            </a:r>
            <a:r>
              <a:rPr sz="1150" b="0" i="0">
                <a:solidFill>
                  <a:srgbClr val="9BD0A8"/>
                </a:solidFill>
                <a:latin typeface="Consolas"/>
              </a:rPr>
              <a:t>'Open'</a:t>
            </a:r>
            <a:r>
              <a:rPr sz="1150" b="0" i="0">
                <a:solidFill>
                  <a:srgbClr val="DCE6EF"/>
                </a:solidFill>
                <a:latin typeface="Consolas"/>
              </a:rPr>
              <a:t> </a:t>
            </a:r>
            <a:r>
              <a:rPr sz="1150" b="1" i="0">
                <a:solidFill>
                  <a:srgbClr val="7FB0E0"/>
                </a:solidFill>
                <a:latin typeface="Consolas"/>
              </a:rPr>
              <a:t>AND</a:t>
            </a:r>
            <a:r>
              <a:rPr sz="1150" b="0" i="0">
                <a:solidFill>
                  <a:srgbClr val="DCE6EF"/>
                </a:solidFill>
                <a:latin typeface="Consolas"/>
              </a:rPr>
              <a:t> f.Status = </a:t>
            </a:r>
            <a:r>
              <a:rPr sz="1150" b="0" i="0">
                <a:solidFill>
                  <a:srgbClr val="9BD0A8"/>
                </a:solidFill>
                <a:latin typeface="Consolas"/>
              </a:rPr>
              <a:t>'Open'</a:t>
            </a:r>
            <a:r>
              <a:rPr sz="1150" b="0" i="0">
                <a:solidFill>
                  <a:srgbClr val="DCE6EF"/>
                </a:solidFill>
                <a:latin typeface="Consolas"/>
              </a:rPr>
              <a:t>;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4434840"/>
          <a:ext cx="10515600" cy="14173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88720"/>
                <a:gridCol w="2926080"/>
                <a:gridCol w="3108960"/>
                <a:gridCol w="1280160"/>
                <a:gridCol w="2011680"/>
              </a:tblGrid>
              <a:tr h="35433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EEF1F4"/>
                          </a:solidFill>
                          <a:latin typeface="Consolas"/>
                        </a:rPr>
                        <a:t>MATCHID</a:t>
                      </a:r>
                    </a:p>
                  </a:txBody>
                  <a:tcPr marL="73152" marR="73152" marT="36576" marB="36576" anchor="ctr">
                    <a:solidFill>
                      <a:srgbClr val="10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EEF1F4"/>
                          </a:solidFill>
                          <a:latin typeface="Consolas"/>
                        </a:rPr>
                        <a:t>LOST ITEM</a:t>
                      </a:r>
                    </a:p>
                  </a:txBody>
                  <a:tcPr marL="73152" marR="73152" marT="36576" marB="36576" anchor="ctr">
                    <a:solidFill>
                      <a:srgbClr val="10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EEF1F4"/>
                          </a:solidFill>
                          <a:latin typeface="Consolas"/>
                        </a:rPr>
                        <a:t>FOUND ITEM</a:t>
                      </a:r>
                    </a:p>
                  </a:txBody>
                  <a:tcPr marL="73152" marR="73152" marT="36576" marB="36576" anchor="ctr">
                    <a:solidFill>
                      <a:srgbClr val="10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EEF1F4"/>
                          </a:solidFill>
                          <a:latin typeface="Consolas"/>
                        </a:rPr>
                        <a:t>SCORE</a:t>
                      </a:r>
                    </a:p>
                  </a:txBody>
                  <a:tcPr marL="73152" marR="73152" marT="36576" marB="36576" anchor="ctr">
                    <a:solidFill>
                      <a:srgbClr val="10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EEF1F4"/>
                          </a:solidFill>
                          <a:latin typeface="Consolas"/>
                        </a:rPr>
                        <a:t>STATUS</a:t>
                      </a:r>
                    </a:p>
                  </a:txBody>
                  <a:tcPr marL="73152" marR="73152" marT="36576" marB="36576" anchor="ctr">
                    <a:solidFill>
                      <a:srgbClr val="10151C"/>
                    </a:solidFill>
                  </a:tcPr>
                </a:tc>
              </a:tr>
              <a:tr h="35433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4A5868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4A5868"/>
                          </a:solidFill>
                          <a:latin typeface="Consolas"/>
                        </a:rPr>
                        <a:t>#1 Black Wallet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4A5868"/>
                          </a:solidFill>
                          <a:latin typeface="Consolas"/>
                        </a:rPr>
                        <a:t>#4 Wallet Found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4A5868"/>
                          </a:solidFill>
                          <a:latin typeface="Consolas"/>
                        </a:rPr>
                        <a:t>80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4A5868"/>
                          </a:solidFill>
                          <a:latin typeface="Consolas"/>
                        </a:rPr>
                        <a:t>Suggested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4A5868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4A5868"/>
                          </a:solidFill>
                          <a:latin typeface="Consolas"/>
                        </a:rPr>
                        <a:t>#2 iPhone 13</a:t>
                      </a:r>
                    </a:p>
                  </a:txBody>
                  <a:tcPr marL="73152" marR="73152" marT="27432" marB="27432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4A5868"/>
                          </a:solidFill>
                          <a:latin typeface="Consolas"/>
                        </a:rPr>
                        <a:t>#5 Phone Found</a:t>
                      </a:r>
                    </a:p>
                  </a:txBody>
                  <a:tcPr marL="73152" marR="73152" marT="27432" marB="27432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4A5868"/>
                          </a:solidFill>
                          <a:latin typeface="Consolas"/>
                        </a:rPr>
                        <a:t>80</a:t>
                      </a:r>
                    </a:p>
                  </a:txBody>
                  <a:tcPr marL="73152" marR="73152" marT="27432" marB="27432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4A5868"/>
                          </a:solidFill>
                          <a:latin typeface="Consolas"/>
                        </a:rPr>
                        <a:t>Suggested</a:t>
                      </a:r>
                    </a:p>
                  </a:txBody>
                  <a:tcPr marL="73152" marR="73152" marT="27432" marB="27432" anchor="ctr">
                    <a:solidFill>
                      <a:srgbClr val="EEF1F4"/>
                    </a:solidFill>
                  </a:tcPr>
                </a:tc>
              </a:tr>
              <a:tr h="35433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4A5868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4A5868"/>
                          </a:solidFill>
                          <a:latin typeface="Consolas"/>
                        </a:rPr>
                        <a:t>#3 Blue Water Bottle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4A5868"/>
                          </a:solidFill>
                          <a:latin typeface="Consolas"/>
                        </a:rPr>
                        <a:t>#6 Water Bottle Found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4A5868"/>
                          </a:solidFill>
                          <a:latin typeface="Consolas"/>
                        </a:rPr>
                        <a:t>80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4A5868"/>
                          </a:solidFill>
                          <a:latin typeface="Consolas"/>
                        </a:rPr>
                        <a:t>Suggested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6446520"/>
            <a:ext cx="11183112" cy="9525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97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 spc="20">
                <a:solidFill>
                  <a:srgbClr val="4A5868"/>
                </a:solidFill>
                <a:latin typeface="Consolas"/>
              </a:rPr>
              <a:t>Lost &amp; Found Campus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97320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 spc="20">
                <a:solidFill>
                  <a:srgbClr val="4A5868"/>
                </a:solidFill>
                <a:latin typeface="Consolas"/>
              </a:rPr>
              <a:t>Stored Procedures</a:t>
            </a:r>
          </a:p>
        </p:txBody>
      </p:sp>
    </p:spTree>
  </p:cSld>
  <p:clrMapOvr>
    <a:masterClrMapping/>
  </p:clrMapOvr>
  <p:transition xmlns:p14="http://schemas.microsoft.com/office/powerpoint/2010/main" spd="med" p14:dur="650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45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110" presetID="10" presetClass="entr" presetSubtype="0" fill="hold" nodeType="afterEffect">
                      <p:stCondLst>
                        <p:cond delay="150"/>
                      </p:stCondLst>
                      <p:childTnLst>
                        <p:set>
                          <p:cBhvr>
                            <p:cTn id="1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" dur="45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20" presetID="10" presetClass="entr" presetSubtype="0" fill="hold" nodeType="afterEffect">
                      <p:stCondLst>
                        <p:cond delay="150"/>
                      </p:stCondLst>
                      <p:childTnLst>
                        <p:set>
                          <p:cBhvr>
                            <p:cTn id="1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2" dur="45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30" presetID="10" presetClass="entr" presetSubtype="0" fill="hold" nodeType="afterEffect">
                      <p:stCondLst>
                        <p:cond delay="200"/>
                      </p:stCondLst>
                      <p:childTnLst>
                        <p:set>
                          <p:cBhvr>
                            <p:cTn id="13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wipe(bottom)">
                          <p:cBhvr>
                            <p:cTn id="132" dur="45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40" presetID="10" presetClass="entr" presetSubtype="0" fill="hold" nodeType="afterEffect">
                      <p:stCondLst>
                        <p:cond delay="200"/>
                      </p:stCondLst>
                      <p:childTnLst>
                        <p:set>
                          <p:cBhvr>
                            <p:cTn id="14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2" dur="45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B8862E"/>
                </a:solidFill>
                <a:latin typeface="Consolas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9144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0151C"/>
                </a:solidFill>
                <a:latin typeface="Georgia"/>
              </a:rPr>
              <a:t>End-to-end test, traced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4A5868"/>
                </a:solidFill>
                <a:latin typeface="Segoe UI"/>
              </a:rPr>
              <a:t>Every row below was captured directly from SSMS while running 06_demo.sql - not simulated.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1320" y="0"/>
            <a:ext cx="960120" cy="310896"/>
          </a:xfrm>
          <a:prstGeom prst="rect">
            <a:avLst/>
          </a:prstGeom>
          <a:solidFill>
            <a:srgbClr val="10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>
                <a:solidFill>
                  <a:srgbClr val="EEF1F4"/>
                </a:solidFill>
                <a:latin typeface="Consolas"/>
              </a:rPr>
              <a:t>08 /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148840"/>
          <a:ext cx="10515600" cy="3566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91840"/>
                <a:gridCol w="1645920"/>
                <a:gridCol w="5577840"/>
              </a:tblGrid>
              <a:tr h="509451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EEF1F4"/>
                          </a:solidFill>
                          <a:latin typeface="Consolas"/>
                        </a:rPr>
                        <a:t>COMPONENT</a:t>
                      </a:r>
                    </a:p>
                  </a:txBody>
                  <a:tcPr marL="73152" marR="73152" marT="36576" marB="36576" anchor="ctr">
                    <a:solidFill>
                      <a:srgbClr val="10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EEF1F4"/>
                          </a:solidFill>
                          <a:latin typeface="Consolas"/>
                        </a:rPr>
                        <a:t>RESULT</a:t>
                      </a:r>
                    </a:p>
                  </a:txBody>
                  <a:tcPr marL="73152" marR="73152" marT="36576" marB="36576" anchor="ctr">
                    <a:solidFill>
                      <a:srgbClr val="10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EEF1F4"/>
                          </a:solidFill>
                          <a:latin typeface="Consolas"/>
                        </a:rPr>
                        <a:t>EVIDENCE</a:t>
                      </a:r>
                    </a:p>
                  </a:txBody>
                  <a:tcPr marL="73152" marR="73152" marT="36576" marB="36576" anchor="ctr">
                    <a:solidFill>
                      <a:srgbClr val="10151C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868"/>
                          </a:solidFill>
                          <a:latin typeface="Consolas"/>
                        </a:rPr>
                        <a:t>Schema + constraints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868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868"/>
                          </a:solidFill>
                          <a:latin typeface="Consolas"/>
                        </a:rPr>
                        <a:t>5 tables, all FKs enforced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868"/>
                          </a:solidFill>
                          <a:latin typeface="Consolas"/>
                        </a:rPr>
                        <a:t>Join queries</a:t>
                      </a:r>
                    </a:p>
                  </a:txBody>
                  <a:tcPr marL="73152" marR="73152" marT="27432" marB="27432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868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868"/>
                          </a:solidFill>
                          <a:latin typeface="Consolas"/>
                        </a:rPr>
                        <a:t>6/6 returned correct combined data</a:t>
                      </a:r>
                    </a:p>
                  </a:txBody>
                  <a:tcPr marL="73152" marR="73152" marT="27432" marB="27432" anchor="ctr">
                    <a:solidFill>
                      <a:srgbClr val="EEF1F4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868"/>
                          </a:solidFill>
                          <a:latin typeface="Consolas"/>
                        </a:rPr>
                        <a:t>sp_MatchItems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868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868"/>
                          </a:solidFill>
                          <a:latin typeface="Consolas"/>
                        </a:rPr>
                        <a:t>3/3 lost items correctly matched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868"/>
                          </a:solidFill>
                          <a:latin typeface="Consolas"/>
                        </a:rPr>
                        <a:t>trg_ClaimRequest_Insert</a:t>
                      </a:r>
                    </a:p>
                  </a:txBody>
                  <a:tcPr marL="73152" marR="73152" marT="27432" marB="27432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868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868"/>
                          </a:solidFill>
                          <a:latin typeface="Consolas"/>
                        </a:rPr>
                        <a:t>Item status -&gt; ClaimPending on claim</a:t>
                      </a:r>
                    </a:p>
                  </a:txBody>
                  <a:tcPr marL="73152" marR="73152" marT="27432" marB="27432" anchor="ctr">
                    <a:solidFill>
                      <a:srgbClr val="EEF1F4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868"/>
                          </a:solidFill>
                          <a:latin typeface="Consolas"/>
                        </a:rPr>
                        <a:t>sp_ReviewClaim + approval trigger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868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868"/>
                          </a:solidFill>
                          <a:latin typeface="Consolas"/>
                        </a:rPr>
                        <a:t>Item status -&gt; Claimed on approval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945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868"/>
                          </a:solidFill>
                          <a:latin typeface="Consolas"/>
                        </a:rPr>
                        <a:t>AuditLog</a:t>
                      </a:r>
                    </a:p>
                  </a:txBody>
                  <a:tcPr marL="73152" marR="73152" marT="27432" marB="27432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868"/>
                          </a:solidFill>
                          <a:latin typeface="Consolas"/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4A5868"/>
                          </a:solidFill>
                          <a:latin typeface="Consolas"/>
                        </a:rPr>
                        <a:t>INSERT + UPDATE both logged automatically</a:t>
                      </a:r>
                    </a:p>
                  </a:txBody>
                  <a:tcPr marL="73152" marR="73152" marT="27432" marB="27432" anchor="ctr"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6446520"/>
            <a:ext cx="11183112" cy="9525"/>
          </a:xfrm>
          <a:prstGeom prst="rect">
            <a:avLst/>
          </a:prstGeom>
          <a:solidFill>
            <a:srgbClr val="D3D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7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 spc="20">
                <a:solidFill>
                  <a:srgbClr val="4A5868"/>
                </a:solidFill>
                <a:latin typeface="Consolas"/>
              </a:rPr>
              <a:t>Lost &amp; Found Campus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97320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 spc="20">
                <a:solidFill>
                  <a:srgbClr val="4A5868"/>
                </a:solidFill>
                <a:latin typeface="Consolas"/>
              </a:rPr>
              <a:t>Testing</a:t>
            </a:r>
          </a:p>
        </p:txBody>
      </p:sp>
    </p:spTree>
  </p:cSld>
  <p:clrMapOvr>
    <a:masterClrMapping/>
  </p:clrMapOvr>
  <p:transition xmlns:p14="http://schemas.microsoft.com/office/powerpoint/2010/main" spd="med" p14:dur="650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45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110" presetID="10" presetClass="entr" presetSubtype="0" fill="hold" nodeType="afterEffect">
                      <p:stCondLst>
                        <p:cond delay="150"/>
                      </p:stCondLst>
                      <p:childTnLst>
                        <p:set>
                          <p:cBhvr>
                            <p:cTn id="1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" dur="45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20" presetID="10" presetClass="entr" presetSubtype="0" fill="hold" nodeType="afterEffect">
                      <p:stCondLst>
                        <p:cond delay="150"/>
                      </p:stCondLst>
                      <p:childTnLst>
                        <p:set>
                          <p:cBhvr>
                            <p:cTn id="1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2" dur="45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30" presetID="10" presetClass="entr" presetSubtype="0" fill="hold" nodeType="afterEffect">
                      <p:stCondLst>
                        <p:cond delay="200"/>
                      </p:stCondLst>
                      <p:childTnLst>
                        <p:set>
                          <p:cBhvr>
                            <p:cTn id="13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wipe(right)">
                          <p:cBhvr>
                            <p:cTn id="132" dur="45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33172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 spc="120">
                <a:solidFill>
                  <a:srgbClr val="B8862E"/>
                </a:solidFill>
                <a:latin typeface="Consola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69748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EEF1F4"/>
                </a:solidFill>
                <a:latin typeface="Georgia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352044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9FB0BF"/>
                </a:solidFill>
                <a:latin typeface="Segoe UI"/>
              </a:rPr>
              <a:t>Lost &amp; Found Campus System - a working SQL Server database demonstrating joins, triggers, and stored procedures end to end.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09647" y="4480560"/>
            <a:ext cx="192024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C3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CFD9E2"/>
                </a:solidFill>
                <a:latin typeface="Consolas"/>
              </a:rPr>
              <a:t>SQL Server / T-SQL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2767" y="4480560"/>
            <a:ext cx="118872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C3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CFD9E2"/>
                </a:solidFill>
                <a:latin typeface="Consolas"/>
              </a:rPr>
              <a:t>5 Tables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84367" y="4480560"/>
            <a:ext cx="109728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C3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CFD9E2"/>
                </a:solidFill>
                <a:latin typeface="Consolas"/>
              </a:rPr>
              <a:t>6 Joins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64527" y="4480560"/>
            <a:ext cx="128016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C3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CFD9E2"/>
                </a:solidFill>
                <a:latin typeface="Consolas"/>
              </a:rPr>
              <a:t>3 Triggers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27567" y="4480560"/>
            <a:ext cx="155448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C3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>
                <a:solidFill>
                  <a:srgbClr val="CFD9E2"/>
                </a:solidFill>
                <a:latin typeface="Consolas"/>
              </a:rPr>
              <a:t>4 Procedures</a:t>
            </a:r>
          </a:p>
        </p:txBody>
      </p:sp>
    </p:spTree>
  </p:cSld>
  <p:clrMapOvr>
    <a:masterClrMapping/>
  </p:clrMapOvr>
  <p:transition xmlns:p14="http://schemas.microsoft.com/office/powerpoint/2010/main" spd="med" p14:dur="8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0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" dur="45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110" presetID="10" presetClass="entr" presetSubtype="0" fill="hold" nodeType="afterEffect">
                      <p:stCondLst>
                        <p:cond delay="130"/>
                      </p:stCondLst>
                      <p:childTnLst>
                        <p:set>
                          <p:cBhvr>
                            <p:cTn id="1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" dur="45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20" presetID="10" presetClass="entr" presetSubtype="0" fill="hold" nodeType="afterEffect">
                      <p:stCondLst>
                        <p:cond delay="130"/>
                      </p:stCondLst>
                      <p:childTnLst>
                        <p:set>
                          <p:cBhvr>
                            <p:cTn id="1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2" dur="45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30" presetID="10" presetClass="entr" presetSubtype="0" fill="hold" nodeType="afterEffect">
                      <p:stCondLst>
                        <p:cond delay="200"/>
                      </p:stCondLst>
                      <p:childTnLst>
                        <p:set>
                          <p:cBhvr>
                            <p:cTn id="13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box(in)">
                          <p:cBhvr>
                            <p:cTn id="132" dur="45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40" presetID="10" presetClass="entr" presetSubtype="0" fill="hold" nodeType="afterEffect">
                      <p:stCondLst>
                        <p:cond delay="130"/>
                      </p:stCondLst>
                      <p:childTnLst>
                        <p:set>
                          <p:cBhvr>
                            <p:cTn id="14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box(in)">
                          <p:cBhvr>
                            <p:cTn id="142" dur="45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50" presetID="10" presetClass="entr" presetSubtype="0" fill="hold" nodeType="afterEffect">
                      <p:stCondLst>
                        <p:cond delay="130"/>
                      </p:stCondLst>
                      <p:childTnLst>
                        <p:set>
                          <p:cBhvr>
                            <p:cTn id="15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box(in)">
                          <p:cBhvr>
                            <p:cTn id="152" dur="45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60" presetID="10" presetClass="entr" presetSubtype="0" fill="hold" nodeType="afterEffect">
                      <p:stCondLst>
                        <p:cond delay="130"/>
                      </p:stCondLst>
                      <p:childTnLst>
                        <p:set>
                          <p:cBhvr>
                            <p:cTn id="1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box(in)">
                          <p:cBhvr>
                            <p:cTn id="162" dur="45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70" presetID="10" presetClass="entr" presetSubtype="0" fill="hold" nodeType="afterEffect">
                      <p:stCondLst>
                        <p:cond delay="130"/>
                      </p:stCondLst>
                      <p:childTnLst>
                        <p:set>
                          <p:cBhvr>
                            <p:cTn id="17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box(in)">
                          <p:cBhvr>
                            <p:cTn id="172" dur="45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